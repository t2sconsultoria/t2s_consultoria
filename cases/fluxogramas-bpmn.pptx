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1643055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2000" b="1">
                <a:solidFill>
                  <a:srgbClr val="0B1929"/>
                </a:solidFill>
                <a:latin typeface="Calibri"/>
              </a:rPr>
              <a:t>Produção Industrial — Linha de Envase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31520"/>
            <a:ext cx="11734495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74320" cy="589788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 rot="-5400000">
            <a:off x="-685800" y="349758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AFAF8"/>
                </a:solidFill>
                <a:latin typeface="Calibri"/>
              </a:rPr>
              <a:t>LINHA DE PRODUÇÃO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3152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 rot="-5400000">
            <a:off x="-594359" y="153162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Recebimento &amp; Logística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 rot="-5400000">
            <a:off x="-594359" y="349758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Produção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69748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466344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-5400000">
            <a:off x="-594359" y="546354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CQ &amp; Expedição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466344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05255" y="1568196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2124" y="1655064"/>
            <a:ext cx="118872" cy="1188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1197864" y="1714500"/>
            <a:ext cx="21945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417320" y="1463040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Receber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Matéria-Prima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1714500"/>
            <a:ext cx="22860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63240" y="1463040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Inspeção de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Recebimento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80560" y="1714500"/>
            <a:ext cx="73152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4553712" y="1348740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MP OK?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85232" y="1714500"/>
            <a:ext cx="155448" cy="0"/>
          </a:xfrm>
          <a:prstGeom prst="line">
            <a:avLst/>
          </a:prstGeom>
          <a:ln w="15875">
            <a:solidFill>
              <a:srgbClr val="C6282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12080" y="1367028"/>
            <a:ext cx="3657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1463040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Devolver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Matéria-Prima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0" y="1714500"/>
            <a:ext cx="17373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031736" y="1568196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>
            <a:cxnSpLocks/>
          </p:cNvCxnSpPr>
          <p:nvPr/>
        </p:nvCxnSpPr>
        <p:spPr>
          <a:xfrm>
            <a:off x="4919472" y="2080260"/>
            <a:ext cx="0" cy="160020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956048" y="260604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19472" y="3680460"/>
            <a:ext cx="155448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074920" y="3429000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Preparar Lote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92240" y="3680460"/>
            <a:ext cx="22860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20840" y="3429000"/>
            <a:ext cx="141732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Produção /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Envase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138160" y="3680460"/>
            <a:ext cx="22860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366760" y="3429000"/>
            <a:ext cx="16002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Embalagem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e Rotulagem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62288" y="3931920"/>
            <a:ext cx="0" cy="1463039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366760" y="5394959"/>
            <a:ext cx="16002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Controle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de Qualidade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966960" y="5646420"/>
            <a:ext cx="109728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mond 39"/>
          <p:cNvSpPr/>
          <p:nvPr/>
        </p:nvSpPr>
        <p:spPr>
          <a:xfrm>
            <a:off x="10058400" y="5280659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Lote OK?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789920" y="5646420"/>
            <a:ext cx="137160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789920" y="529894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43" name="Oval 42"/>
          <p:cNvSpPr/>
          <p:nvPr/>
        </p:nvSpPr>
        <p:spPr>
          <a:xfrm>
            <a:off x="10936224" y="5500116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 flipV="1">
            <a:off x="10424160" y="5052059"/>
            <a:ext cx="0" cy="22860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cxnSpLocks/>
          </p:cNvCxnSpPr>
          <p:nvPr/>
        </p:nvCxnSpPr>
        <p:spPr>
          <a:xfrm flipH="1">
            <a:off x="7424928" y="5052059"/>
            <a:ext cx="2999232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424927" y="3931920"/>
            <a:ext cx="0" cy="1120139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469880" y="486918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8691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  <a:latin typeface="Calibri"/>
              </a:rPr>
              <a:t>↩ Retrabalho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1643055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2000" b="1">
                <a:solidFill>
                  <a:srgbClr val="0B1929"/>
                </a:solidFill>
                <a:latin typeface="Calibri"/>
              </a:rPr>
              <a:t>Manutenção Preventiva e Corretiva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31520"/>
            <a:ext cx="11734495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74320" cy="589788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 rot="-5400000">
            <a:off x="-685800" y="349758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AFAF8"/>
                </a:solidFill>
                <a:latin typeface="Calibri"/>
              </a:rPr>
              <a:t>GESTÃO DE MANUTENÇÃO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3152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 rot="-5400000">
            <a:off x="-594359" y="153162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Abertura &amp; Triagem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 rot="-5400000">
            <a:off x="-594359" y="349758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Planejamento &amp; Preparação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69748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466344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-5400000">
            <a:off x="-594359" y="546354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Execução &amp; Encerramento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466344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68096" y="1568196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4964" y="1655064"/>
            <a:ext cx="118872" cy="1188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1051560" y="1714500"/>
            <a:ext cx="13716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88720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Detectar Falha /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Necessidade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171450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414016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Abrir Chamado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(CMMS)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11296" y="171450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39312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Classificar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Prioridade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36592" y="1714500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864607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Registrar Ordem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de Serviço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61888" y="1714500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6044183" y="1348740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Tipo?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9943" y="2034540"/>
            <a:ext cx="0" cy="18288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423160" y="2217420"/>
            <a:ext cx="3986783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23160" y="2217420"/>
            <a:ext cx="0" cy="1252728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560320" y="21076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Preventiva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9943" y="2034540"/>
            <a:ext cx="0" cy="41148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217920" y="2446020"/>
            <a:ext cx="192023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17920" y="2446020"/>
            <a:ext cx="0" cy="1024128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0" y="23362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Corretiva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74519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Consultar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Plano PM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71800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099816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Verificar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Janela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0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Diagnosticar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Falha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66560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94576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Análise de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Causa Raiz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991856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119872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Classificar</a:t>
            </a:r>
          </a:p>
          <a:p>
            <a:pPr algn="ctr"/>
            <a:r>
              <a:rPr sz="1000" b="0">
                <a:solidFill>
                  <a:srgbClr val="1E3A5F"/>
                </a:solidFill>
                <a:latin typeface="Calibri"/>
              </a:rPr>
              <a:t>Criticidade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17152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iamond 44"/>
          <p:cNvSpPr/>
          <p:nvPr/>
        </p:nvSpPr>
        <p:spPr>
          <a:xfrm>
            <a:off x="9299448" y="3314700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Peça OK?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9665208" y="3131820"/>
            <a:ext cx="0" cy="22860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3131820"/>
            <a:ext cx="393192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058400" y="2930652"/>
            <a:ext cx="1188720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C62828"/>
                </a:solidFill>
                <a:latin typeface="Calibri"/>
              </a:rPr>
              <a:t>Solicitar</a:t>
            </a:r>
          </a:p>
          <a:p>
            <a:pPr algn="ctr"/>
            <a:r>
              <a:rPr sz="850" b="0">
                <a:solidFill>
                  <a:srgbClr val="C62828"/>
                </a:solidFill>
                <a:latin typeface="Calibri"/>
              </a:rPr>
              <a:t>Peça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247120" y="3113532"/>
            <a:ext cx="137160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0058400" y="3351276"/>
            <a:ext cx="1188720" cy="3291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C62828"/>
                </a:solidFill>
                <a:latin typeface="Calibri"/>
              </a:rPr>
              <a:t>Aguardar</a:t>
            </a:r>
          </a:p>
          <a:p>
            <a:pPr algn="ctr"/>
            <a:r>
              <a:rPr sz="850" b="0">
                <a:solidFill>
                  <a:srgbClr val="C62828"/>
                </a:solidFill>
                <a:latin typeface="Calibri"/>
              </a:rPr>
              <a:t>Peça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9738360" y="3515868"/>
            <a:ext cx="320040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738360" y="3351276"/>
            <a:ext cx="0" cy="164592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738360" y="3351276"/>
            <a:ext cx="0" cy="329184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692640" y="317754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985248" y="3680460"/>
            <a:ext cx="137160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966960" y="340614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89120" y="4000500"/>
            <a:ext cx="1097280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Planejar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Intervenção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0" y="4000500"/>
            <a:ext cx="1097280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Mobilizar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Equipe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197096" y="3680460"/>
            <a:ext cx="0" cy="50292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197096" y="4183380"/>
            <a:ext cx="192024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985248" y="3680460"/>
            <a:ext cx="0" cy="50292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6766560" y="4183380"/>
            <a:ext cx="3218688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486400" y="4183380"/>
            <a:ext cx="18288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217920" y="4366260"/>
            <a:ext cx="0" cy="1069847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188720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Isolar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Equipamento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286000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2414016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Executar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Manutenção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511296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639312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Testes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Funcionais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736592" y="5646420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iamond 70"/>
          <p:cNvSpPr/>
          <p:nvPr/>
        </p:nvSpPr>
        <p:spPr>
          <a:xfrm>
            <a:off x="4818887" y="5280659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Equip OK?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5184647" y="5097780"/>
            <a:ext cx="0" cy="22860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2962656" y="5097780"/>
            <a:ext cx="2221991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962656" y="5097780"/>
            <a:ext cx="0" cy="338327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001767" y="4933188"/>
            <a:ext cx="365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504687" y="5646420"/>
            <a:ext cx="128016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175503" y="537210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632703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Liberar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Equipamento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729983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6857999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Atualizar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CMMS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955279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8083295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Relatório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Final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180575" y="5646420"/>
            <a:ext cx="9144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9281159" y="5500116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5" name="Connector 84"/>
          <p:cNvCxnSpPr/>
          <p:nvPr/>
        </p:nvCxnSpPr>
        <p:spPr>
          <a:xfrm flipV="1">
            <a:off x="6217920" y="5189220"/>
            <a:ext cx="0" cy="246887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960120" y="5189220"/>
            <a:ext cx="5257800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60120" y="5189220"/>
            <a:ext cx="0" cy="45720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60120" y="5646420"/>
            <a:ext cx="22860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1643055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2000" b="1">
                <a:solidFill>
                  <a:srgbClr val="0B1929"/>
                </a:solidFill>
                <a:latin typeface="Calibri"/>
              </a:rPr>
              <a:t>Atendimento Hospitalar — Pronto Socorro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31520"/>
            <a:ext cx="11734495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74320" cy="589788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 rot="-5400000">
            <a:off x="-685800" y="349758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AFAF8"/>
                </a:solidFill>
                <a:latin typeface="Calibri"/>
              </a:rPr>
              <a:t>PRONTO SOCORRO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31520"/>
            <a:ext cx="411480" cy="147447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 rot="-5400000">
            <a:off x="-594359" y="1285875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Recepção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05990"/>
            <a:ext cx="411480" cy="147447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 rot="-5400000">
            <a:off x="-594359" y="2760345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Triagem &amp; Classificação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20599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3680460"/>
            <a:ext cx="411480" cy="147447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-5400000">
            <a:off x="-594359" y="4234815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Atendimento Médico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368046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5154930"/>
            <a:ext cx="411480" cy="147447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 rot="-5400000">
            <a:off x="-594359" y="5709285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Internação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515493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68096" y="1322451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4964" y="1409319"/>
            <a:ext cx="118872" cy="1188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51560" y="1468755"/>
            <a:ext cx="13716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188720" y="125844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Chegada do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Paciente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86000" y="146875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414016" y="125844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Identificação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(documentos)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11296" y="146875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39312" y="125844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Cadastro /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Abrir Ficha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36592" y="1468755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864607" y="125844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Encaminhar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à Triagem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13248" y="1679067"/>
            <a:ext cx="0" cy="761238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60120" y="2440305"/>
            <a:ext cx="4453128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0120" y="2440305"/>
            <a:ext cx="0" cy="50292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2943225"/>
            <a:ext cx="22860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188720" y="273291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Aferir Sinais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Vitais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294322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14016" y="273291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Avaliar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Queixa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511296" y="294322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639312" y="273291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Aplicar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Manchester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736592" y="2943225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iamond 38"/>
          <p:cNvSpPr/>
          <p:nvPr/>
        </p:nvSpPr>
        <p:spPr>
          <a:xfrm>
            <a:off x="4860036" y="2554605"/>
            <a:ext cx="777240" cy="77724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Risco?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4151375" y="2943225"/>
            <a:ext cx="713232" cy="0"/>
          </a:xfrm>
          <a:prstGeom prst="line">
            <a:avLst/>
          </a:prstGeom>
          <a:ln w="1587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51375" y="2943225"/>
            <a:ext cx="0" cy="971550"/>
          </a:xfrm>
          <a:prstGeom prst="line">
            <a:avLst/>
          </a:prstGeom>
          <a:ln w="1587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737360" y="3914775"/>
            <a:ext cx="2414015" cy="0"/>
          </a:xfrm>
          <a:prstGeom prst="line">
            <a:avLst/>
          </a:prstGeom>
          <a:ln w="1587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737360" y="3914775"/>
            <a:ext cx="0" cy="292608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334255" y="2988945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Calibri"/>
              </a:rPr>
              <a:t>Verde (P4)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248655" y="3327273"/>
            <a:ext cx="0" cy="587502"/>
          </a:xfrm>
          <a:prstGeom prst="line">
            <a:avLst/>
          </a:prstGeom>
          <a:ln w="15875">
            <a:solidFill>
              <a:srgbClr val="E6A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737360" y="3914775"/>
            <a:ext cx="3511295" cy="0"/>
          </a:xfrm>
          <a:prstGeom prst="line">
            <a:avLst/>
          </a:prstGeom>
          <a:ln w="15875">
            <a:solidFill>
              <a:srgbClr val="E6A8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285231" y="3382137"/>
            <a:ext cx="914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E6A817"/>
                </a:solidFill>
                <a:latin typeface="Calibri"/>
              </a:rPr>
              <a:t>Amarelo (P3)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32703" y="2943225"/>
            <a:ext cx="713233" cy="0"/>
          </a:xfrm>
          <a:prstGeom prst="line">
            <a:avLst/>
          </a:prstGeom>
          <a:ln w="15875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345936" y="2943225"/>
            <a:ext cx="0" cy="971550"/>
          </a:xfrm>
          <a:prstGeom prst="line">
            <a:avLst/>
          </a:prstGeom>
          <a:ln w="15875">
            <a:solidFill>
              <a:srgbClr val="C6282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05855" y="2742057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  <a:latin typeface="Calibri"/>
              </a:rPr>
              <a:t>Vermelho (P1/P2)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88720" y="420738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Chamar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Paciente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286000" y="441769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414016" y="420738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Consulta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Médica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511296" y="441769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639312" y="420738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Anamnese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736592" y="4417695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864607" y="420738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Exame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Físico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961888" y="4417695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Diamond 58"/>
          <p:cNvSpPr/>
          <p:nvPr/>
        </p:nvSpPr>
        <p:spPr>
          <a:xfrm>
            <a:off x="6044183" y="4051935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Exames?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6409943" y="3887343"/>
            <a:ext cx="0" cy="210312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46519" y="3942207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Sim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07023" y="3667887"/>
            <a:ext cx="1005840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00" b="0">
                <a:solidFill>
                  <a:srgbClr val="1E3A5F"/>
                </a:solidFill>
                <a:latin typeface="Calibri"/>
              </a:rPr>
              <a:t>Solicitar</a:t>
            </a:r>
          </a:p>
          <a:p>
            <a:pPr algn="ctr"/>
            <a:r>
              <a:rPr sz="800" b="0">
                <a:solidFill>
                  <a:srgbClr val="1E3A5F"/>
                </a:solidFill>
                <a:latin typeface="Calibri"/>
              </a:rPr>
              <a:t>Exames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5413248" y="3850767"/>
            <a:ext cx="493775" cy="0"/>
          </a:xfrm>
          <a:prstGeom prst="line">
            <a:avLst/>
          </a:prstGeom>
          <a:ln w="1587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413248" y="3850767"/>
            <a:ext cx="0" cy="356616"/>
          </a:xfrm>
          <a:prstGeom prst="line">
            <a:avLst/>
          </a:prstGeom>
          <a:ln w="15875">
            <a:solidFill>
              <a:srgbClr val="6B728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729983" y="441769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400799" y="4143375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Não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57999" y="420738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Hipótese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Diagnóstica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955279" y="441769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Diamond 68"/>
          <p:cNvSpPr/>
          <p:nvPr/>
        </p:nvSpPr>
        <p:spPr>
          <a:xfrm>
            <a:off x="8037575" y="4051935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Internar?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723375" y="4417695"/>
            <a:ext cx="73152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385047" y="4143375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Não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96527" y="4243959"/>
            <a:ext cx="91440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Prescrever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710927" y="4417695"/>
            <a:ext cx="4572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9756647" y="4243959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Alta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0442447" y="4417695"/>
            <a:ext cx="4572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0497311" y="4271391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" name="Connector 76"/>
          <p:cNvCxnSpPr/>
          <p:nvPr/>
        </p:nvCxnSpPr>
        <p:spPr>
          <a:xfrm>
            <a:off x="8403335" y="4737735"/>
            <a:ext cx="0" cy="651510"/>
          </a:xfrm>
          <a:prstGeom prst="line">
            <a:avLst/>
          </a:prstGeom>
          <a:ln w="1587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960120" y="5389245"/>
            <a:ext cx="7443215" cy="0"/>
          </a:xfrm>
          <a:prstGeom prst="line">
            <a:avLst/>
          </a:prstGeom>
          <a:ln w="1587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60120" y="5389245"/>
            <a:ext cx="0" cy="502920"/>
          </a:xfrm>
          <a:prstGeom prst="line">
            <a:avLst/>
          </a:prstGeom>
          <a:ln w="1587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60120" y="5892165"/>
            <a:ext cx="228600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439911" y="4765167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88720" y="568185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Preparar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Leito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286000" y="589216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2414016" y="568185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Transferir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Paciente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511296" y="589216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3639312" y="568185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Internar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736592" y="5892165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4864607" y="568185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Plano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Terapêutico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961888" y="5892165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6089903" y="568185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Acompanha-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mento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187183" y="589216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7315199" y="568185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Reavaliação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8412480" y="5892165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8540496" y="5681853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Alta Médica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9637776" y="5892165"/>
            <a:ext cx="73152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9720072" y="5745861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1643055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2000" b="1">
                <a:solidFill>
                  <a:srgbClr val="0B1929"/>
                </a:solidFill>
                <a:latin typeface="Calibri"/>
              </a:rPr>
              <a:t>Gestão de Pedidos e Distribuição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31520"/>
            <a:ext cx="11734495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74320" cy="589788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 rot="-5400000">
            <a:off x="-685800" y="349758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AFAF8"/>
                </a:solidFill>
                <a:latin typeface="Calibri"/>
              </a:rPr>
              <a:t>LOGÍSTICA &amp; DISTRIBUIÇÃO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3152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 rot="-5400000">
            <a:off x="-594359" y="153162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Recebimento &amp; Validação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 rot="-5400000">
            <a:off x="-594359" y="349758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Separação &amp; Embalagem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69748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466344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-5400000">
            <a:off x="-594359" y="546354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Expedição &amp; Entrega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466344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68096" y="1568196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4964" y="1655064"/>
            <a:ext cx="118872" cy="1188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1051560" y="1714500"/>
            <a:ext cx="13716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88720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Receber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Pedido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171450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414016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Validar Dados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Cadastrais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11296" y="171450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3593592" y="1348740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Cadastro?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79392" y="1714500"/>
            <a:ext cx="118872" cy="0"/>
          </a:xfrm>
          <a:prstGeom prst="line">
            <a:avLst/>
          </a:prstGeom>
          <a:ln w="15875">
            <a:solidFill>
              <a:srgbClr val="C6282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51960" y="144018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8264" y="1540764"/>
            <a:ext cx="100584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C62828"/>
                </a:solidFill>
                <a:latin typeface="Calibri"/>
              </a:rPr>
              <a:t>Notificar</a:t>
            </a:r>
          </a:p>
          <a:p>
            <a:pPr algn="ctr"/>
            <a:r>
              <a:rPr sz="850" b="0">
                <a:solidFill>
                  <a:srgbClr val="C62828"/>
                </a:solidFill>
                <a:latin typeface="Calibri"/>
              </a:rPr>
              <a:t>Cliente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04104" y="1714500"/>
            <a:ext cx="109728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522976" y="1568196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3959352" y="2034540"/>
            <a:ext cx="0" cy="18288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95928" y="2061972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59352" y="2217420"/>
            <a:ext cx="91439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050791" y="2007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Analisar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Crédito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48072" y="2217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iamond 33"/>
          <p:cNvSpPr/>
          <p:nvPr/>
        </p:nvSpPr>
        <p:spPr>
          <a:xfrm>
            <a:off x="5230367" y="1851660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Crédito?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5596127" y="1714499"/>
            <a:ext cx="0" cy="182880"/>
          </a:xfrm>
          <a:prstGeom prst="line">
            <a:avLst/>
          </a:prstGeom>
          <a:ln w="15875">
            <a:solidFill>
              <a:srgbClr val="C6282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449823" y="1412748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84647" y="1778507"/>
            <a:ext cx="365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16167" y="2217420"/>
            <a:ext cx="118873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88736" y="194310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2007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Aprovar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Pedido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79" y="2427732"/>
            <a:ext cx="0" cy="1042416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583679" y="3177540"/>
            <a:ext cx="0" cy="292608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0120" y="3177540"/>
            <a:ext cx="5623559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60120" y="3177540"/>
            <a:ext cx="0" cy="50292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60120" y="3680460"/>
            <a:ext cx="22860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188720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Reservar</a:t>
            </a:r>
          </a:p>
          <a:p>
            <a:pPr algn="ctr"/>
            <a:r>
              <a:rPr sz="900" b="0">
                <a:solidFill>
                  <a:srgbClr val="1E3A5F"/>
                </a:solidFill>
                <a:latin typeface="Calibri"/>
              </a:rPr>
              <a:t>Estoque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286000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iamond 47"/>
          <p:cNvSpPr/>
          <p:nvPr/>
        </p:nvSpPr>
        <p:spPr>
          <a:xfrm>
            <a:off x="2368296" y="3314700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Estoque?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2734056" y="3150108"/>
            <a:ext cx="0" cy="210312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770632" y="3204972"/>
            <a:ext cx="365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31136" y="2967228"/>
            <a:ext cx="100584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00" b="0">
                <a:solidFill>
                  <a:srgbClr val="C62828"/>
                </a:solidFill>
                <a:latin typeface="Calibri"/>
              </a:rPr>
              <a:t>Solicitar</a:t>
            </a:r>
          </a:p>
          <a:p>
            <a:pPr algn="ctr"/>
            <a:r>
              <a:rPr sz="800" b="0">
                <a:solidFill>
                  <a:srgbClr val="C62828"/>
                </a:solidFill>
                <a:latin typeface="Calibri"/>
              </a:rPr>
              <a:t>Reposição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1737360" y="3131820"/>
            <a:ext cx="493776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37360" y="3131820"/>
            <a:ext cx="0" cy="338328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054096" y="3680460"/>
            <a:ext cx="128016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706624" y="340614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82112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Gerar Lista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de Picking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279392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407408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Picking /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Separação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04688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632704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Conferência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29984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/>
          <p:cNvSpPr/>
          <p:nvPr/>
        </p:nvSpPr>
        <p:spPr>
          <a:xfrm>
            <a:off x="6812279" y="3314700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Itens OK?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178040" y="4000500"/>
            <a:ext cx="0" cy="210312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5029200" y="4210812"/>
            <a:ext cx="2148840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029200" y="3890772"/>
            <a:ext cx="0" cy="320040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214616" y="4027932"/>
            <a:ext cx="365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498079" y="3680460"/>
            <a:ext cx="128017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168896" y="340614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26096" y="3470148"/>
            <a:ext cx="82296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Embalar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449056" y="3680460"/>
            <a:ext cx="73152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522208" y="3470148"/>
            <a:ext cx="77724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Etiquetar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299448" y="3680460"/>
            <a:ext cx="73152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9372600" y="3470148"/>
            <a:ext cx="68580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Gerar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NF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715500" y="3890772"/>
            <a:ext cx="0" cy="246888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960120" y="4137660"/>
            <a:ext cx="8755380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60120" y="4137660"/>
            <a:ext cx="0" cy="150876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60120" y="5646420"/>
            <a:ext cx="22860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1188720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Roteirizar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286000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2414016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Carregar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Veículo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3511296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3639312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Despachar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736592" y="5646420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4864607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Rastrear em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Trânsito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961888" y="5646420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6089903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Entregar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187183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Diamond 87"/>
          <p:cNvSpPr/>
          <p:nvPr/>
        </p:nvSpPr>
        <p:spPr>
          <a:xfrm>
            <a:off x="7269479" y="5280659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Entrega?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7635240" y="5116068"/>
            <a:ext cx="0" cy="210312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6638544" y="5116068"/>
            <a:ext cx="996696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38544" y="5116068"/>
            <a:ext cx="0" cy="320039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269479" y="5170931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181344" y="4933188"/>
            <a:ext cx="91440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00" b="0">
                <a:solidFill>
                  <a:srgbClr val="C62828"/>
                </a:solidFill>
                <a:latin typeface="Calibri"/>
              </a:rPr>
              <a:t>Tratar</a:t>
            </a:r>
          </a:p>
          <a:p>
            <a:pPr algn="ctr"/>
            <a:r>
              <a:rPr sz="800" b="0">
                <a:solidFill>
                  <a:srgbClr val="C62828"/>
                </a:solidFill>
                <a:latin typeface="Calibri"/>
              </a:rPr>
              <a:t>Ocorrência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955279" y="5646420"/>
            <a:ext cx="128017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7626096" y="537210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083296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Confirmar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Entrega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9180576" y="5646420"/>
            <a:ext cx="73152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9253728" y="5436107"/>
            <a:ext cx="77724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Faturar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0030967" y="5646420"/>
            <a:ext cx="73152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10113263" y="5500116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1643055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2000" b="1">
                <a:solidFill>
                  <a:srgbClr val="0B1929"/>
                </a:solidFill>
                <a:latin typeface="Calibri"/>
              </a:rPr>
              <a:t>Onboarding de Colaboradores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31520"/>
            <a:ext cx="11734495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74320" cy="589788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 rot="-5400000">
            <a:off x="-685800" y="349758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AFAF8"/>
                </a:solidFill>
                <a:latin typeface="Calibri"/>
              </a:rPr>
              <a:t>GESTÃO DE PESSOAS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3152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 rot="-5400000">
            <a:off x="-594359" y="153162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Admissão &amp; Acessos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 rot="-5400000">
            <a:off x="-594359" y="349758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Integração &amp; Treinamento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69748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4663440"/>
            <a:ext cx="411480" cy="1965960"/>
          </a:xfrm>
          <a:prstGeom prst="rect">
            <a:avLst/>
          </a:prstGeom>
          <a:solidFill>
            <a:srgbClr val="F3F0EA"/>
          </a:solidFill>
          <a:ln w="6350">
            <a:solidFill>
              <a:srgbClr val="D5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-5400000">
            <a:off x="-594359" y="5463540"/>
            <a:ext cx="2606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A4539"/>
                </a:solidFill>
                <a:latin typeface="Calibri"/>
              </a:rPr>
              <a:t>Acompanhamento &amp; Avaliação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4663440"/>
            <a:ext cx="11460175" cy="0"/>
          </a:xfrm>
          <a:prstGeom prst="line">
            <a:avLst/>
          </a:prstGeom>
          <a:ln w="6350">
            <a:solidFill>
              <a:srgbClr val="D5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68096" y="1568196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4964" y="1655064"/>
            <a:ext cx="118872" cy="1188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1051560" y="1714500"/>
            <a:ext cx="13716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88720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Aprovar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Contratação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171450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414016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Enviar Proposta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(Candidato)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11296" y="171450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3593592" y="1348740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Aceita?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959352" y="1211580"/>
            <a:ext cx="0" cy="182880"/>
          </a:xfrm>
          <a:prstGeom prst="line">
            <a:avLst/>
          </a:prstGeom>
          <a:ln w="15875">
            <a:solidFill>
              <a:srgbClr val="C6282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813048" y="909828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47872" y="1275588"/>
            <a:ext cx="365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79392" y="1714500"/>
            <a:ext cx="128015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50207" y="144018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7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Coletar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Documentos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04688" y="1714500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5586983" y="1348740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Docs OK?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5952743" y="1184148"/>
            <a:ext cx="0" cy="210312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4956048" y="1184148"/>
            <a:ext cx="996695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56048" y="1184148"/>
            <a:ext cx="0" cy="320040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32703" y="1239012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272783" y="1714500"/>
            <a:ext cx="128016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599" y="144018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799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Cadastrar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no Sistema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98079" y="171450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26095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Exame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Admissional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23375" y="171450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851391" y="150418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Providenciar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Acessos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00031" y="1924812"/>
            <a:ext cx="0" cy="1252728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960120" y="3177540"/>
            <a:ext cx="8439911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60120" y="3177540"/>
            <a:ext cx="0" cy="50292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60120" y="3680460"/>
            <a:ext cx="22860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188720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Boas-vindas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&amp; Kit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286000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414016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Apresentação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da Empresa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511296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639312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Cultura &amp;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Valores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736592" y="3680460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4864607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Treinamento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Compliance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61888" y="3680460"/>
            <a:ext cx="12801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089903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Treinamento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Técnico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87183" y="368046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Diamond 56"/>
          <p:cNvSpPr/>
          <p:nvPr/>
        </p:nvSpPr>
        <p:spPr>
          <a:xfrm>
            <a:off x="7269479" y="3314700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Aprovado?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635240" y="4000500"/>
            <a:ext cx="0" cy="210312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638544" y="4210812"/>
            <a:ext cx="996696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38544" y="3890772"/>
            <a:ext cx="0" cy="320040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671815" y="4027932"/>
            <a:ext cx="365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955279" y="3680460"/>
            <a:ext cx="128017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626096" y="340614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83296" y="3470148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Alocação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na Equipe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180576" y="3680460"/>
            <a:ext cx="73152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9253728" y="3470148"/>
            <a:ext cx="100584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00" b="0">
                <a:solidFill>
                  <a:srgbClr val="1E3A5F"/>
                </a:solidFill>
                <a:latin typeface="Calibri"/>
              </a:rPr>
              <a:t>Reunião 1:1</a:t>
            </a:r>
          </a:p>
          <a:p>
            <a:pPr algn="ctr"/>
            <a:r>
              <a:rPr sz="800" b="0">
                <a:solidFill>
                  <a:srgbClr val="1E3A5F"/>
                </a:solidFill>
                <a:latin typeface="Calibri"/>
              </a:rPr>
              <a:t>Gestor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0259567" y="3680460"/>
            <a:ext cx="54865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0314432" y="3470148"/>
            <a:ext cx="8686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Definir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Metas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748772" y="3890772"/>
            <a:ext cx="0" cy="265176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960120" y="4155948"/>
            <a:ext cx="9788652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60120" y="4155948"/>
            <a:ext cx="0" cy="1490472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60120" y="5646420"/>
            <a:ext cx="228600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1188720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Avaliação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30 dias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286000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Diamond 74"/>
          <p:cNvSpPr/>
          <p:nvPr/>
        </p:nvSpPr>
        <p:spPr>
          <a:xfrm>
            <a:off x="2368296" y="5280659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Perf 30d?</a:t>
            </a:r>
          </a:p>
        </p:txBody>
      </p:sp>
      <p:cxnSp>
        <p:nvCxnSpPr>
          <p:cNvPr id="76" name="Connector 75"/>
          <p:cNvCxnSpPr/>
          <p:nvPr/>
        </p:nvCxnSpPr>
        <p:spPr>
          <a:xfrm flipV="1">
            <a:off x="2734056" y="5116068"/>
            <a:ext cx="0" cy="210312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770632" y="5170931"/>
            <a:ext cx="365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231136" y="4933188"/>
            <a:ext cx="100584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00" b="0">
                <a:solidFill>
                  <a:srgbClr val="C62828"/>
                </a:solidFill>
                <a:latin typeface="Calibri"/>
              </a:rPr>
              <a:t>PDI /</a:t>
            </a:r>
          </a:p>
          <a:p>
            <a:pPr algn="ctr"/>
            <a:r>
              <a:rPr sz="800" b="0">
                <a:solidFill>
                  <a:srgbClr val="C62828"/>
                </a:solidFill>
                <a:latin typeface="Calibri"/>
              </a:rPr>
              <a:t>Plano Desenv.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1737360" y="5097780"/>
            <a:ext cx="493776" cy="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737360" y="5097780"/>
            <a:ext cx="0" cy="338327"/>
          </a:xfrm>
          <a:prstGeom prst="line">
            <a:avLst/>
          </a:prstGeom>
          <a:ln w="15875">
            <a:solidFill>
              <a:srgbClr val="C6282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054096" y="5646420"/>
            <a:ext cx="128016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724912" y="537210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182112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Avaliação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60 dias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279392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4407408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Feedback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360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504688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5632704" y="5436107"/>
            <a:ext cx="10972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Avaliação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90 dias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29984" y="5646420"/>
            <a:ext cx="128016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Diamond 88"/>
          <p:cNvSpPr/>
          <p:nvPr/>
        </p:nvSpPr>
        <p:spPr>
          <a:xfrm>
            <a:off x="6812279" y="5280659"/>
            <a:ext cx="731520" cy="731520"/>
          </a:xfrm>
          <a:prstGeom prst="diamond">
            <a:avLst/>
          </a:prstGeom>
          <a:solidFill>
            <a:srgbClr val="F5E6C8"/>
          </a:solidFill>
          <a:ln w="1587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Efetivar?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498079" y="5646420"/>
            <a:ext cx="91440" cy="0"/>
          </a:xfrm>
          <a:prstGeom prst="line">
            <a:avLst/>
          </a:prstGeom>
          <a:ln w="158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132319" y="537210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89519" y="5436107"/>
            <a:ext cx="82296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1E3A5F"/>
                </a:solidFill>
                <a:latin typeface="Calibri"/>
              </a:rPr>
              <a:t>Efetivar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8412480" y="5646420"/>
            <a:ext cx="73152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8494776" y="5500116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5" name="Connector 94"/>
          <p:cNvCxnSpPr/>
          <p:nvPr/>
        </p:nvCxnSpPr>
        <p:spPr>
          <a:xfrm>
            <a:off x="7178040" y="5966459"/>
            <a:ext cx="0" cy="210313"/>
          </a:xfrm>
          <a:prstGeom prst="line">
            <a:avLst/>
          </a:prstGeom>
          <a:ln w="15875">
            <a:solidFill>
              <a:srgbClr val="C6282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214616" y="5993892"/>
            <a:ext cx="365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Calibri"/>
              </a:rPr>
              <a:t>Não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75120" y="6176772"/>
            <a:ext cx="100584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850" b="0">
                <a:solidFill>
                  <a:srgbClr val="C62828"/>
                </a:solidFill>
                <a:latin typeface="Calibri"/>
              </a:rPr>
              <a:t>Desligamento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7680960" y="6350508"/>
            <a:ext cx="155448" cy="0"/>
          </a:xfrm>
          <a:prstGeom prst="line">
            <a:avLst/>
          </a:prstGeom>
          <a:ln w="15875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7845552" y="6204204"/>
            <a:ext cx="292608" cy="29260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378</Words>
  <Application>Microsoft Office PowerPoint</Application>
  <PresentationFormat>Widescreen</PresentationFormat>
  <Paragraphs>246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Tiago Fernandes</cp:lastModifiedBy>
  <cp:revision>3</cp:revision>
  <dcterms:created xsi:type="dcterms:W3CDTF">2013-01-27T09:14:16Z</dcterms:created>
  <dcterms:modified xsi:type="dcterms:W3CDTF">2026-04-15T16:53:09Z</dcterms:modified>
  <cp:category/>
</cp:coreProperties>
</file>